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65" r:id="rId2"/>
    <p:sldId id="362" r:id="rId3"/>
    <p:sldId id="363" r:id="rId4"/>
    <p:sldId id="364" r:id="rId5"/>
    <p:sldId id="365" r:id="rId6"/>
    <p:sldId id="339" r:id="rId7"/>
  </p:sldIdLst>
  <p:sldSz cx="9144000" cy="6858000" type="screen4x3"/>
  <p:notesSz cx="6645275" cy="97758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544">
          <p15:clr>
            <a:srgbClr val="A4A3A4"/>
          </p15:clr>
        </p15:guide>
        <p15:guide id="4" pos="302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079">
          <p15:clr>
            <a:srgbClr val="A4A3A4"/>
          </p15:clr>
        </p15:guide>
        <p15:guide id="4" pos="209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clrMode="bw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3053" autoAdjust="0"/>
  </p:normalViewPr>
  <p:slideViewPr>
    <p:cSldViewPr>
      <p:cViewPr varScale="1">
        <p:scale>
          <a:sx n="67" d="100"/>
          <a:sy n="67" d="100"/>
        </p:scale>
        <p:origin x="1284" y="32"/>
      </p:cViewPr>
      <p:guideLst>
        <p:guide orient="horz" pos="2160"/>
        <p:guide pos="2880"/>
        <p:guide orient="horz" pos="2544"/>
        <p:guide pos="30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92" y="-108"/>
      </p:cViewPr>
      <p:guideLst>
        <p:guide orient="horz" pos="2880"/>
        <p:guide pos="2160"/>
        <p:guide orient="horz" pos="3079"/>
        <p:guide pos="209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79619" cy="4887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4118" y="0"/>
            <a:ext cx="2879619" cy="4887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3D612-C04C-D640-93E7-D5EF5CA46B3B}" type="datetimeFigureOut">
              <a:rPr lang="en-US" smtClean="0"/>
              <a:pPr/>
              <a:t>11/19/2025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285337"/>
            <a:ext cx="2879619" cy="4887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4118" y="9285337"/>
            <a:ext cx="2879619" cy="4887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5E456B-A9B9-014A-AABA-2537E1E55AD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1448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79619" cy="4887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18" y="0"/>
            <a:ext cx="2879619" cy="4887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45FFD-A4F8-49F3-B470-BAC0EB7B11A2}" type="datetimeFigureOut">
              <a:rPr lang="en-US" smtClean="0"/>
              <a:pPr/>
              <a:t>11/19/2025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79475" y="733425"/>
            <a:ext cx="4886325" cy="3665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643517"/>
            <a:ext cx="5316220" cy="43991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85337"/>
            <a:ext cx="2879619" cy="4887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18" y="9285337"/>
            <a:ext cx="2879619" cy="4887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97303A-8C21-45BA-8D4E-02D870345F7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22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l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sp>
        <p:nvSpPr>
          <p:cNvPr id="30" name="TextBox 29"/>
          <p:cNvSpPr txBox="1"/>
          <p:nvPr userDrawn="1"/>
        </p:nvSpPr>
        <p:spPr>
          <a:xfrm>
            <a:off x="-76200" y="5257800"/>
            <a:ext cx="220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0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Presenter details comes here</a:t>
            </a:r>
          </a:p>
          <a:p>
            <a:pPr lvl="0"/>
            <a:r>
              <a:rPr lang="en-GB" dirty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  <p:pic>
        <p:nvPicPr>
          <p:cNvPr id="13" name="Picture 12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-76200" y="5257800"/>
            <a:ext cx="220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</p:spTree>
    <p:extLst>
      <p:ext uri="{BB962C8B-B14F-4D97-AF65-F5344CB8AC3E}">
        <p14:creationId xmlns:p14="http://schemas.microsoft.com/office/powerpoint/2010/main" val="113624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headings here </a:t>
            </a:r>
          </a:p>
          <a:p>
            <a:pPr lvl="0"/>
            <a:r>
              <a:rPr lang="en-US" dirty="0"/>
              <a:t>(separator - can run in two lines)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6858000" y="762000"/>
            <a:ext cx="220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533400" y="64770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477000"/>
            <a:ext cx="30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92213E5C-B85C-465D-9C45-E5DBF501DEE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Deemed to be a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grpSp>
        <p:nvGrpSpPr>
          <p:cNvPr id="2" name="Group 11"/>
          <p:cNvGrpSpPr/>
          <p:nvPr userDrawn="1"/>
        </p:nvGrpSpPr>
        <p:grpSpPr>
          <a:xfrm>
            <a:off x="2083888" y="6550671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4" name="Group 1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" name="Group 2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533400" y="64770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0593367A-03F0-4C25-A8FE-EE84F89DFAB8}" type="datetime4">
              <a:rPr lang="en-US" smtClean="0"/>
              <a:pPr/>
              <a:t>November 19, 2025</a:t>
            </a:fld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477000"/>
            <a:ext cx="30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92213E5C-B85C-465D-9C45-E5DBF501DEE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Date Placeholder 3"/>
          <p:cNvSpPr>
            <a:spLocks noGrp="1"/>
          </p:cNvSpPr>
          <p:nvPr>
            <p:ph type="dt" sz="half" idx="11"/>
          </p:nvPr>
        </p:nvSpPr>
        <p:spPr>
          <a:xfrm>
            <a:off x="533400" y="64770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9374097-4B8D-43A9-A900-953B93051B11}" type="datetime4">
              <a:rPr lang="en-US" smtClean="0"/>
              <a:pPr/>
              <a:t>November 19, 2025</a:t>
            </a:fld>
            <a:endParaRPr lang="en-US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477000"/>
            <a:ext cx="30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92213E5C-B85C-465D-9C45-E5DBF501DE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TextBox 17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Deemed to be a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" name="Group 10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" name="Group 15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22" name="Date Placeholder 3"/>
          <p:cNvSpPr>
            <a:spLocks noGrp="1"/>
          </p:cNvSpPr>
          <p:nvPr>
            <p:ph type="dt" sz="half" idx="11"/>
          </p:nvPr>
        </p:nvSpPr>
        <p:spPr>
          <a:xfrm>
            <a:off x="533400" y="64770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August 7, 2013</a:t>
            </a:r>
          </a:p>
        </p:txBody>
      </p:sp>
      <p:sp>
        <p:nvSpPr>
          <p:cNvPr id="2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77000"/>
            <a:ext cx="30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92213E5C-B85C-465D-9C45-E5DBF501DE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Deemed to be a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" name="Group 5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10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533400" y="64770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4B11F-2DE1-44FF-A8BE-903483BD5FBA}" type="datetime4">
              <a:rPr lang="en-US" smtClean="0"/>
              <a:pPr/>
              <a:t>November 19, 2025</a:t>
            </a:fld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477000"/>
            <a:ext cx="30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92213E5C-B85C-465D-9C45-E5DBF501DEE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" name="Group 8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" name="Group 13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9" name="Date Placeholder 3"/>
          <p:cNvSpPr>
            <a:spLocks noGrp="1"/>
          </p:cNvSpPr>
          <p:nvPr>
            <p:ph type="dt" sz="half" idx="14"/>
          </p:nvPr>
        </p:nvSpPr>
        <p:spPr>
          <a:xfrm>
            <a:off x="533400" y="64770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83870A8-6B37-4099-8779-EA2FEA25D91D}" type="datetime4">
              <a:rPr lang="en-US" smtClean="0"/>
              <a:pPr/>
              <a:t>November 19, 2025</a:t>
            </a:fld>
            <a:endParaRPr lang="en-US" dirty="0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477000"/>
            <a:ext cx="30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92213E5C-B85C-465D-9C45-E5DBF501DE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Deemed to be a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>
            <a:normAutofit/>
          </a:bodyPr>
          <a:lstStyle>
            <a:lvl1pPr algn="l">
              <a:defRPr sz="1800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" name="Group 10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6" name="Date Placeholder 3"/>
          <p:cNvSpPr>
            <a:spLocks noGrp="1"/>
          </p:cNvSpPr>
          <p:nvPr>
            <p:ph type="dt" sz="half" idx="11"/>
          </p:nvPr>
        </p:nvSpPr>
        <p:spPr>
          <a:xfrm>
            <a:off x="533400" y="64770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6CA71E65-5C16-4F90-8C82-55582EC5AF75}" type="datetime4">
              <a:rPr lang="en-US" smtClean="0"/>
              <a:pPr/>
              <a:t>November 19, 2025</a:t>
            </a:fld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477000"/>
            <a:ext cx="30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92213E5C-B85C-465D-9C45-E5DBF501DE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Deemed to be a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" name="Group 24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533400" y="64770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August 7, 2013</a:t>
            </a: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477000"/>
            <a:ext cx="30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92213E5C-B85C-465D-9C45-E5DBF501DE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Deemed to be a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5410200" y="2743200"/>
            <a:ext cx="58674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" name="Group 7"/>
          <p:cNvGrpSpPr/>
          <p:nvPr userDrawn="1"/>
        </p:nvGrpSpPr>
        <p:grpSpPr>
          <a:xfrm rot="5400000">
            <a:off x="5006340" y="2567940"/>
            <a:ext cx="5181600" cy="4571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758715" y="1131248"/>
            <a:ext cx="2193193" cy="692697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 rot="5400000">
            <a:off x="-2794428" y="3808884"/>
            <a:ext cx="5867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0" y="64770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173E0FAB-218A-4AF7-9F30-74019F3D9E71}" type="datetime4">
              <a:rPr lang="en-US" smtClean="0"/>
              <a:pPr/>
              <a:t>November 19, 2025</a:t>
            </a:fld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600" y="6477000"/>
            <a:ext cx="30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92213E5C-B85C-465D-9C45-E5DBF501DEE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0" hangingPunct="1">
        <a:spcBef>
          <a:spcPct val="0"/>
        </a:spcBef>
        <a:buNone/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691680" y="3573016"/>
            <a:ext cx="6912768" cy="223224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400" b="1" kern="1200" spc="-150" baseline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r"/>
            <a:r>
              <a:rPr lang="en-US" sz="3600" dirty="0">
                <a:latin typeface="Comic Sans MS" panose="030F0702030302020204" pitchFamily="66" charset="0"/>
              </a:rPr>
              <a:t>Orientation on Dissertation</a:t>
            </a:r>
          </a:p>
          <a:p>
            <a:pPr algn="r"/>
            <a:r>
              <a:rPr lang="en-US" sz="2400" dirty="0" err="1">
                <a:latin typeface="Comic Sans MS" panose="030F0702030302020204" pitchFamily="66" charset="0"/>
              </a:rPr>
              <a:t>M.Tech</a:t>
            </a:r>
            <a:r>
              <a:rPr lang="en-US" sz="2400" dirty="0">
                <a:latin typeface="Comic Sans MS" panose="030F0702030302020204" pitchFamily="66" charset="0"/>
              </a:rPr>
              <a:t>.</a:t>
            </a:r>
            <a:endParaRPr lang="en-US" sz="2800" dirty="0">
              <a:latin typeface="Comic Sans MS" panose="030F0702030302020204" pitchFamily="66" charset="0"/>
            </a:endParaRPr>
          </a:p>
          <a:p>
            <a:pPr algn="r"/>
            <a:r>
              <a:rPr lang="en-US" sz="2000" b="0" dirty="0">
                <a:solidFill>
                  <a:srgbClr val="FFFF00"/>
                </a:solidFill>
                <a:latin typeface="Comic Sans MS" panose="030F0702030302020204" pitchFamily="66" charset="0"/>
              </a:rPr>
              <a:t>Dr. </a:t>
            </a:r>
            <a:r>
              <a:rPr lang="en-US" sz="2000" b="0" dirty="0" err="1">
                <a:solidFill>
                  <a:srgbClr val="FFFF00"/>
                </a:solidFill>
                <a:latin typeface="Comic Sans MS" panose="030F0702030302020204" pitchFamily="66" charset="0"/>
              </a:rPr>
              <a:t>Sugata</a:t>
            </a:r>
            <a:r>
              <a:rPr lang="en-US" sz="2000" b="0" dirty="0">
                <a:solidFill>
                  <a:srgbClr val="FFFF00"/>
                </a:solidFill>
                <a:latin typeface="Comic Sans MS" panose="030F0702030302020204" pitchFamily="66" charset="0"/>
              </a:rPr>
              <a:t> Ghosal</a:t>
            </a:r>
          </a:p>
          <a:p>
            <a:pPr algn="r"/>
            <a:r>
              <a:rPr lang="en-US" sz="2000" b="0" dirty="0">
                <a:solidFill>
                  <a:srgbClr val="FFFF00"/>
                </a:solidFill>
                <a:latin typeface="Comic Sans MS" panose="030F0702030302020204" pitchFamily="66" charset="0"/>
              </a:rPr>
              <a:t>CSIS WILPD</a:t>
            </a:r>
            <a:endParaRPr lang="en-US" sz="1800" b="0" dirty="0">
              <a:solidFill>
                <a:srgbClr val="FFFF00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485048" y="620688"/>
            <a:ext cx="5695960" cy="652482"/>
          </a:xfrm>
        </p:spPr>
        <p:txBody>
          <a:bodyPr>
            <a:normAutofit fontScale="77500" lnSpcReduction="20000"/>
          </a:bodyPr>
          <a:lstStyle/>
          <a:p>
            <a:r>
              <a:rPr lang="en-IN" sz="4000" dirty="0">
                <a:solidFill>
                  <a:srgbClr val="C00000"/>
                </a:solidFill>
                <a:latin typeface="Comic Sans MS" panose="030F0702030302020204" pitchFamily="66" charset="0"/>
              </a:rPr>
              <a:t>Dissertation (SS/CSI/CC/SE)</a:t>
            </a:r>
            <a:r>
              <a:rPr lang="en-IN" sz="2500" dirty="0">
                <a:solidFill>
                  <a:srgbClr val="C00000"/>
                </a:solidFill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EB4B11F-2DE1-44FF-A8BE-903483BD5FBA}" type="datetime4">
              <a:rPr lang="en-US" smtClean="0"/>
              <a:pPr/>
              <a:t>November 19, 2025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2213E5C-B85C-465D-9C45-E5DBF501DEE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ontent Placeholder 5"/>
          <p:cNvSpPr txBox="1">
            <a:spLocks/>
          </p:cNvSpPr>
          <p:nvPr/>
        </p:nvSpPr>
        <p:spPr>
          <a:xfrm>
            <a:off x="500034" y="1332486"/>
            <a:ext cx="8392446" cy="5192858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cs typeface="Arial" pitchFamily="34" charset="0"/>
              </a:rPr>
              <a:t>Course Objective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IN" sz="2200" dirty="0">
                <a:latin typeface="Comic Sans MS" panose="030F0702030302020204" pitchFamily="66" charset="0"/>
                <a:cs typeface="Arial" pitchFamily="34" charset="0"/>
              </a:rPr>
              <a:t>Operation of the course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IN" sz="2200" dirty="0">
                <a:latin typeface="Comic Sans MS" panose="030F0702030302020204" pitchFamily="66" charset="0"/>
                <a:cs typeface="Arial" pitchFamily="34" charset="0"/>
              </a:rPr>
              <a:t>Identification of the dissertation topic and supervisor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IN" sz="2200" dirty="0">
                <a:latin typeface="Comic Sans MS" panose="030F0702030302020204" pitchFamily="66" charset="0"/>
                <a:cs typeface="Arial" pitchFamily="34" charset="0"/>
              </a:rPr>
              <a:t>Preparation of detailed outline of dissertation work in consultation with supervisor</a:t>
            </a:r>
          </a:p>
          <a:p>
            <a:pPr marL="1257300" lvl="2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IN" sz="2200" dirty="0">
                <a:latin typeface="Comic Sans MS" panose="030F0702030302020204" pitchFamily="66" charset="0"/>
                <a:cs typeface="Arial" pitchFamily="34" charset="0"/>
              </a:rPr>
              <a:t>Literature Survey</a:t>
            </a:r>
          </a:p>
          <a:p>
            <a:pPr marL="1257300" lvl="2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IN" sz="2200" dirty="0">
                <a:latin typeface="Comic Sans MS" panose="030F0702030302020204" pitchFamily="66" charset="0"/>
                <a:cs typeface="Arial" pitchFamily="34" charset="0"/>
              </a:rPr>
              <a:t>Objective, </a:t>
            </a:r>
            <a:r>
              <a:rPr lang="en-US" sz="2200" dirty="0">
                <a:latin typeface="Comic Sans MS" panose="030F0702030302020204" pitchFamily="66" charset="0"/>
              </a:rPr>
              <a:t>background of previous work in the area, methodology, and plan of work</a:t>
            </a:r>
            <a:endParaRPr lang="en-IN" sz="2200" dirty="0">
              <a:latin typeface="Comic Sans MS" panose="030F0702030302020204" pitchFamily="66" charset="0"/>
              <a:cs typeface="Arial" pitchFamily="34" charset="0"/>
            </a:endParaRP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IN" sz="2200" dirty="0">
                <a:latin typeface="Comic Sans MS" panose="030F0702030302020204" pitchFamily="66" charset="0"/>
                <a:cs typeface="Arial" pitchFamily="34" charset="0"/>
              </a:rPr>
              <a:t>Evaluation of dissertation outline by the examiner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IN" sz="2200" dirty="0">
                <a:latin typeface="Comic Sans MS" panose="030F0702030302020204" pitchFamily="66" charset="0"/>
                <a:cs typeface="Arial" pitchFamily="34" charset="0"/>
              </a:rPr>
              <a:t>Mid- Sem report - viva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IN" sz="2200" dirty="0">
                <a:latin typeface="Comic Sans MS" panose="030F0702030302020204" pitchFamily="66" charset="0"/>
                <a:cs typeface="Arial" pitchFamily="34" charset="0"/>
              </a:rPr>
              <a:t>End- </a:t>
            </a:r>
            <a:r>
              <a:rPr lang="en-IN" sz="2200" dirty="0" err="1">
                <a:latin typeface="Comic Sans MS" panose="030F0702030302020204" pitchFamily="66" charset="0"/>
                <a:cs typeface="Arial" pitchFamily="34" charset="0"/>
              </a:rPr>
              <a:t>Sem</a:t>
            </a:r>
            <a:r>
              <a:rPr lang="en-IN" sz="2200" dirty="0">
                <a:latin typeface="Comic Sans MS" panose="030F0702030302020204" pitchFamily="66" charset="0"/>
                <a:cs typeface="Arial" pitchFamily="34" charset="0"/>
              </a:rPr>
              <a:t> report and seminar - viva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IN" sz="2200" dirty="0">
                <a:latin typeface="Comic Sans MS" panose="030F0702030302020204" pitchFamily="66" charset="0"/>
                <a:cs typeface="Arial" pitchFamily="34" charset="0"/>
              </a:rPr>
              <a:t>Regular interaction with the supervisor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IN" sz="2000" dirty="0">
              <a:latin typeface="Comic Sans MS" panose="030F0702030302020204" pitchFamily="66" charset="0"/>
              <a:cs typeface="Arial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493837"/>
            <a:ext cx="8839200" cy="5175523"/>
          </a:xfrm>
        </p:spPr>
        <p:txBody>
          <a:bodyPr>
            <a:normAutofit fontScale="92500" lnSpcReduction="20000"/>
          </a:bodyPr>
          <a:lstStyle/>
          <a:p>
            <a:pPr>
              <a:spcAft>
                <a:spcPts val="600"/>
              </a:spcAft>
            </a:pPr>
            <a:r>
              <a:rPr lang="en-IN" b="1" dirty="0">
                <a:solidFill>
                  <a:srgbClr val="0000FF"/>
                </a:solidFill>
                <a:latin typeface="Comic Sans MS" panose="030F0702030302020204" pitchFamily="66" charset="0"/>
              </a:rPr>
              <a:t>General Guidelines for student: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Comic Sans MS" panose="030F0702030302020204" pitchFamily="66" charset="0"/>
              </a:rPr>
              <a:t>Duration of dissertation : 1 semester 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Comic Sans MS" panose="030F0702030302020204" pitchFamily="66" charset="0"/>
              </a:rPr>
              <a:t>Work should be presentable to external examiner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Comic Sans MS" panose="030F0702030302020204" pitchFamily="66" charset="0"/>
              </a:rPr>
              <a:t>Measurable outcome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omic Sans MS" panose="030F0702030302020204" pitchFamily="66" charset="0"/>
              </a:rPr>
              <a:t>treated as full-time students and full-time employees</a:t>
            </a:r>
            <a:endParaRPr lang="en-IN" dirty="0">
              <a:latin typeface="Comic Sans MS" panose="030F0702030302020204" pitchFamily="66" charset="0"/>
            </a:endParaRPr>
          </a:p>
          <a:p>
            <a:pPr marL="0" indent="0">
              <a:spcAft>
                <a:spcPts val="600"/>
              </a:spcAft>
            </a:pPr>
            <a:r>
              <a:rPr lang="en-IN" b="1" dirty="0">
                <a:solidFill>
                  <a:srgbClr val="0000FF"/>
                </a:solidFill>
                <a:latin typeface="Comic Sans MS" panose="030F0702030302020204" pitchFamily="66" charset="0"/>
              </a:rPr>
              <a:t>General guidelines for supervisor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omic Sans MS" panose="030F0702030302020204" pitchFamily="66" charset="0"/>
              </a:rPr>
              <a:t>Need to go through the Dissertation Handout carefully to understand the scope, objectives and methodology of a Dissertation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omic Sans MS" panose="030F0702030302020204" pitchFamily="66" charset="0"/>
              </a:rPr>
              <a:t>Guide and evaluate progress on regular basis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omic Sans MS" panose="030F0702030302020204" pitchFamily="66" charset="0"/>
              </a:rPr>
              <a:t>Should ensure high quality work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omic Sans MS" panose="030F0702030302020204" pitchFamily="66" charset="0"/>
              </a:rPr>
              <a:t>responsible for the periodic evaluation of the dissertation and submission of the completed evaluation forms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Comic Sans MS" panose="030F0702030302020204" pitchFamily="66" charset="0"/>
            </a:endParaRPr>
          </a:p>
          <a:p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  <a:latin typeface="Comic Sans MS" panose="030F0702030302020204" pitchFamily="66" charset="0"/>
              </a:rPr>
              <a:t>Dissertation (SS/CSI)</a:t>
            </a:r>
            <a:r>
              <a:rPr lang="en-IN" sz="2400" dirty="0">
                <a:solidFill>
                  <a:srgbClr val="C00000"/>
                </a:solidFill>
                <a:latin typeface="Comic Sans MS" panose="030F0702030302020204" pitchFamily="66" charset="0"/>
              </a:rPr>
              <a:t> 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EB4B11F-2DE1-44FF-A8BE-903483BD5FBA}" type="datetime4">
              <a:rPr lang="en-US" smtClean="0"/>
              <a:pPr/>
              <a:t>November 19, 2025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2213E5C-B85C-465D-9C45-E5DBF501DEE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34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0D17D-8E85-4509-9699-9F965E74EC0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0" y="248024"/>
            <a:ext cx="6324600" cy="1143000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</a:rPr>
              <a:t>Quality of Dissertation (1)</a:t>
            </a:r>
            <a:endParaRPr lang="en-IN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5F490-1CC0-4AE1-A479-695160D7347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593367A-03F0-4C25-A8FE-EE84F89DFAB8}" type="datetime4">
              <a:rPr lang="en-US" smtClean="0"/>
              <a:pPr/>
              <a:t>November 19,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687B11-4081-4E24-93A5-18C163FC72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2213E5C-B85C-465D-9C45-E5DBF501DEEB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4197F5-36C1-483A-998A-2C8102BD9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7284"/>
            <a:ext cx="9144000" cy="388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832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0D17D-8E85-4509-9699-9F965E74EC0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</a:rPr>
              <a:t>Quality of Dissertation (2)</a:t>
            </a:r>
            <a:endParaRPr lang="en-IN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5F490-1CC0-4AE1-A479-695160D7347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593367A-03F0-4C25-A8FE-EE84F89DFAB8}" type="datetime4">
              <a:rPr lang="en-US" smtClean="0"/>
              <a:pPr/>
              <a:t>November 19,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687B11-4081-4E24-93A5-18C163FC72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2213E5C-B85C-465D-9C45-E5DBF501DEEB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7A72AF-5FF4-4E4F-B1EF-340BC3F30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4824"/>
            <a:ext cx="9144000" cy="389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12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algn="ctr"/>
            <a:r>
              <a:rPr lang="en-IN" dirty="0"/>
              <a:t>Good Luck!</a:t>
            </a:r>
          </a:p>
          <a:p>
            <a:pPr algn="ctr"/>
            <a:r>
              <a:rPr lang="en-IN" sz="2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1924584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14592</TotalTime>
  <Words>197</Words>
  <Application>Microsoft Office PowerPoint</Application>
  <PresentationFormat>On-screen Show (4:3)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Comic Sans MS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sachin.arya</dc:creator>
  <cp:lastModifiedBy>BITS</cp:lastModifiedBy>
  <cp:revision>672</cp:revision>
  <cp:lastPrinted>2016-02-25T06:08:06Z</cp:lastPrinted>
  <dcterms:created xsi:type="dcterms:W3CDTF">2012-02-22T09:24:10Z</dcterms:created>
  <dcterms:modified xsi:type="dcterms:W3CDTF">2025-11-19T12:43:23Z</dcterms:modified>
</cp:coreProperties>
</file>